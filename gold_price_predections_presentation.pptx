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Oranienbaum" charset="-122" pitchFamily="34"/>
      <p:regular r:id="rId14"/>
    </p:embeddedFon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6B8E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0.892</c:v>
                </c:pt>
                <c:pt idx="1">
                  <c:v>0.988</c:v>
                </c:pt>
                <c:pt idx="2">
                  <c:v>0.983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C8C8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7.58</c:v>
                </c:pt>
                <c:pt idx="1">
                  <c:v>2.51</c:v>
                </c:pt>
                <c:pt idx="2">
                  <c:v>3.02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8e3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2C2C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pfnj3t2beuv6/mnt/agents/output/gold_presentation/images/1_Gold_Glowing_Trade_Chart_for_Stock.png">    </p:cNvPr>
          <p:cNvPicPr>
            <a:picLocks noChangeAspect="1"/>
          </p:cNvPicPr>
          <p:nvPr/>
        </p:nvPicPr>
        <p:blipFill>
          <a:blip r:embed="rId1"/>
          <a:srcRect l="0" r="0" t="766" b="76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F7F7F5"/>
              </a:gs>
              <a:gs pos="55000">
                <a:srgbClr val="F7F7F5">
                  <a:alpha val="95000"/>
                </a:srgbClr>
              </a:gs>
              <a:gs pos="100000">
                <a:srgbClr val="F7F7F5">
                  <a:alpha val="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70000" y="2794000"/>
            <a:ext cx="9144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spc="200" kern="0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Predicting the Price of Gold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800" b="1" spc="200" kern="0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 Machine Learning Approach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46990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Global Financial Assets to Forecast the Future of Gold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70000" y="5384800"/>
            <a:ext cx="4572000" cy="254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7" name="Text 4"/>
          <p:cNvSpPr/>
          <p:nvPr/>
        </p:nvSpPr>
        <p:spPr>
          <a:xfrm>
            <a:off x="1270000" y="56388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Data Science Portfolio 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38000" y="76200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Science Student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Portfolio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0000" y="660400"/>
            <a:ext cx="2413000" cy="508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270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127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1270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1143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Question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1968500"/>
            <a:ext cx="13716000" cy="12700"/>
          </a:xfrm>
          <a:prstGeom prst="rect">
            <a:avLst/>
          </a:prstGeom>
          <a:solidFill>
            <a:srgbClr val="EAE8E3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2540000"/>
            <a:ext cx="762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we mathematically deduce the price of gold just by looking at the stock market, oil, silver, and currency rates?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4635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2,290 days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historical data across 5 major financial assets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5270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Goal: Use </a:t>
            </a:r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asset prices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predict tomorrow's gold price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5905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 </a:t>
            </a:r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regression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problem — finding patterns in global markets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0" y="2540000"/>
            <a:ext cx="4826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8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65000" y="355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27000" y="127000"/>
                </a:moveTo>
                <a:cubicBezTo>
                  <a:pt x="127000" y="91877"/>
                  <a:pt x="98623" y="63500"/>
                  <a:pt x="63500" y="63500"/>
                </a:cubicBezTo>
                <a:cubicBezTo>
                  <a:pt x="28377" y="63500"/>
                  <a:pt x="0" y="91877"/>
                  <a:pt x="0" y="127000"/>
                </a:cubicBezTo>
                <a:lnTo>
                  <a:pt x="0" y="793750"/>
                </a:lnTo>
                <a:cubicBezTo>
                  <a:pt x="0" y="881459"/>
                  <a:pt x="71041" y="952500"/>
                  <a:pt x="158750" y="952500"/>
                </a:cubicBezTo>
                <a:lnTo>
                  <a:pt x="952500" y="952500"/>
                </a:lnTo>
                <a:cubicBezTo>
                  <a:pt x="987623" y="952500"/>
                  <a:pt x="1016000" y="924123"/>
                  <a:pt x="1016000" y="889000"/>
                </a:cubicBezTo>
                <a:cubicBezTo>
                  <a:pt x="1016000" y="853877"/>
                  <a:pt x="987623" y="825500"/>
                  <a:pt x="952500" y="825500"/>
                </a:cubicBezTo>
                <a:lnTo>
                  <a:pt x="158750" y="825500"/>
                </a:lnTo>
                <a:cubicBezTo>
                  <a:pt x="141288" y="825500"/>
                  <a:pt x="127000" y="811213"/>
                  <a:pt x="127000" y="793750"/>
                </a:cubicBezTo>
                <a:lnTo>
                  <a:pt x="127000" y="127000"/>
                </a:lnTo>
                <a:close/>
                <a:moveTo>
                  <a:pt x="933847" y="298847"/>
                </a:moveTo>
                <a:cubicBezTo>
                  <a:pt x="958652" y="274042"/>
                  <a:pt x="958652" y="233759"/>
                  <a:pt x="933847" y="208955"/>
                </a:cubicBezTo>
                <a:cubicBezTo>
                  <a:pt x="909042" y="184150"/>
                  <a:pt x="868759" y="184150"/>
                  <a:pt x="843955" y="208955"/>
                </a:cubicBezTo>
                <a:lnTo>
                  <a:pt x="635000" y="418108"/>
                </a:lnTo>
                <a:lnTo>
                  <a:pt x="521097" y="304403"/>
                </a:lnTo>
                <a:cubicBezTo>
                  <a:pt x="496292" y="279598"/>
                  <a:pt x="456009" y="279598"/>
                  <a:pt x="431205" y="304403"/>
                </a:cubicBezTo>
                <a:lnTo>
                  <a:pt x="240705" y="494903"/>
                </a:lnTo>
                <a:cubicBezTo>
                  <a:pt x="215900" y="519708"/>
                  <a:pt x="215900" y="559991"/>
                  <a:pt x="240705" y="584795"/>
                </a:cubicBezTo>
                <a:cubicBezTo>
                  <a:pt x="265509" y="609600"/>
                  <a:pt x="305792" y="609600"/>
                  <a:pt x="330597" y="584795"/>
                </a:cubicBezTo>
                <a:lnTo>
                  <a:pt x="476250" y="439142"/>
                </a:lnTo>
                <a:lnTo>
                  <a:pt x="590153" y="553045"/>
                </a:lnTo>
                <a:cubicBezTo>
                  <a:pt x="614958" y="577850"/>
                  <a:pt x="655241" y="577850"/>
                  <a:pt x="680045" y="553045"/>
                </a:cubicBezTo>
                <a:lnTo>
                  <a:pt x="934045" y="299045"/>
                </a:lnTo>
                <a:close/>
              </a:path>
            </a:pathLst>
          </a:custGeom>
          <a:solidFill>
            <a:srgbClr val="6B8E7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41000" y="48260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SPX · GLD · USO · SLV · EUR/USD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Assets · 1 Target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382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7000" y="660400"/>
            <a:ext cx="2159000" cy="508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270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127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1270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1143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Exploring the Data — Clean &amp; Ready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1968500"/>
            <a:ext cx="13716000" cy="12700"/>
          </a:xfrm>
          <a:prstGeom prst="rect">
            <a:avLst/>
          </a:prstGeom>
          <a:solidFill>
            <a:srgbClr val="EAE8E3"/>
          </a:solidFill>
          <a:ln/>
        </p:spPr>
      </p:sp>
      <p:sp>
        <p:nvSpPr>
          <p:cNvPr id="9" name="Shape 7"/>
          <p:cNvSpPr/>
          <p:nvPr/>
        </p:nvSpPr>
        <p:spPr>
          <a:xfrm>
            <a:off x="1270000" y="2540000"/>
            <a:ext cx="4445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2540000"/>
            <a:ext cx="4445000" cy="762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3048000"/>
            <a:ext cx="368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2,290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651000" y="4191000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Records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4826000"/>
            <a:ext cx="3683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SPX (S&amp;P 500)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GLD (Gold)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USO (Oil)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SLV (Silver)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EUR/USD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69000" y="2540000"/>
            <a:ext cx="4445000" cy="431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9000" y="2540000"/>
            <a:ext cx="4445000" cy="762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000" y="3048000"/>
            <a:ext cx="368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350000" y="4191000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0" y="482600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dataset was perfectly clean with no null values to impute or drop.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2540000"/>
            <a:ext cx="4445000" cy="431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8000" y="2540000"/>
            <a:ext cx="4445000" cy="762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0" y="3048000"/>
            <a:ext cx="368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11049000" y="4191000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482600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duplicate rows found. Every record is unique and ready for modeling.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382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7000" y="660400"/>
            <a:ext cx="2159000" cy="508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270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127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1270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1143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Silver Bullet — A Powerful Discovery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1968500"/>
            <a:ext cx="13716000" cy="12700"/>
          </a:xfrm>
          <a:prstGeom prst="rect">
            <a:avLst/>
          </a:prstGeom>
          <a:solidFill>
            <a:srgbClr val="EAE8E3"/>
          </a:solidFill>
          <a:ln/>
        </p:spPr>
      </p:sp>
      <p:pic>
        <p:nvPicPr>
          <p:cNvPr id="9" name="Image 0" descr="https://kimi-img.moonshot.cn/pub/slides/okc/xpfnj3t2beuv6/mnt/agents/output/gold_presentation/images/page7_img1.png">    </p:cNvPr>
          <p:cNvPicPr>
            <a:picLocks noChangeAspect="1"/>
          </p:cNvPicPr>
          <p:nvPr/>
        </p:nvPicPr>
        <p:blipFill>
          <a:blip r:embed="rId1"/>
          <a:srcRect l="-7984" r="-7984" t="0" b="0"/>
          <a:stretch/>
        </p:blipFill>
        <p:spPr>
          <a:xfrm>
            <a:off x="1270000" y="2413000"/>
            <a:ext cx="7620000" cy="5080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398000" y="2413000"/>
            <a:ext cx="5588000" cy="571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9398000" y="2413000"/>
            <a:ext cx="5588000" cy="762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12" name="Text 9"/>
          <p:cNvSpPr/>
          <p:nvPr/>
        </p:nvSpPr>
        <p:spPr>
          <a:xfrm>
            <a:off x="9779000" y="2794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0.866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9779000" y="3937000"/>
            <a:ext cx="482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SLV ↔ GLD Correlation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779000" y="4572000"/>
            <a:ext cx="482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Silver and Gold move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almost identically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This makes SLV our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powerful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predictive feature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The scatter plot shows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near-perfect linear relationship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all years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This single insight alone explains why our models achieve such high accuracy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382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0000" y="660400"/>
            <a:ext cx="2476500" cy="508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270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127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1270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1143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Machine Learning Arena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1968500"/>
            <a:ext cx="13716000" cy="12700"/>
          </a:xfrm>
          <a:prstGeom prst="rect">
            <a:avLst/>
          </a:prstGeom>
          <a:solidFill>
            <a:srgbClr val="EAE8E3"/>
          </a:solidFill>
          <a:ln/>
        </p:spPr>
      </p:sp>
      <p:sp>
        <p:nvSpPr>
          <p:cNvPr id="9" name="Shape 7"/>
          <p:cNvSpPr/>
          <p:nvPr/>
        </p:nvSpPr>
        <p:spPr>
          <a:xfrm>
            <a:off x="1270000" y="2286000"/>
            <a:ext cx="4445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2286000"/>
            <a:ext cx="4445000" cy="762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Shape 9"/>
          <p:cNvSpPr/>
          <p:nvPr/>
        </p:nvSpPr>
        <p:spPr>
          <a:xfrm>
            <a:off x="1651000" y="266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49312" y="31750"/>
                  <a:pt x="63500" y="45938"/>
                  <a:pt x="63500" y="63500"/>
                </a:cubicBezTo>
                <a:lnTo>
                  <a:pt x="63500" y="396875"/>
                </a:lnTo>
                <a:cubicBezTo>
                  <a:pt x="63500" y="405606"/>
                  <a:pt x="70644" y="412750"/>
                  <a:pt x="79375" y="412750"/>
                </a:cubicBezTo>
                <a:lnTo>
                  <a:pt x="476250" y="412750"/>
                </a:lnTo>
                <a:cubicBezTo>
                  <a:pt x="493812" y="412750"/>
                  <a:pt x="508000" y="426938"/>
                  <a:pt x="508000" y="444500"/>
                </a:cubicBezTo>
                <a:cubicBezTo>
                  <a:pt x="508000" y="462062"/>
                  <a:pt x="493812" y="476250"/>
                  <a:pt x="476250" y="476250"/>
                </a:cubicBezTo>
                <a:lnTo>
                  <a:pt x="79375" y="476250"/>
                </a:lnTo>
                <a:cubicBezTo>
                  <a:pt x="35520" y="476250"/>
                  <a:pt x="0" y="440730"/>
                  <a:pt x="0" y="396875"/>
                </a:cubicBezTo>
                <a:lnTo>
                  <a:pt x="0" y="63500"/>
                </a:lnTo>
                <a:cubicBezTo>
                  <a:pt x="0" y="45938"/>
                  <a:pt x="14188" y="31750"/>
                  <a:pt x="31750" y="31750"/>
                </a:cubicBezTo>
                <a:close/>
                <a:moveTo>
                  <a:pt x="127000" y="95250"/>
                </a:moveTo>
                <a:cubicBezTo>
                  <a:pt x="127000" y="77688"/>
                  <a:pt x="141188" y="63500"/>
                  <a:pt x="158750" y="63500"/>
                </a:cubicBezTo>
                <a:lnTo>
                  <a:pt x="349250" y="63500"/>
                </a:lnTo>
                <a:cubicBezTo>
                  <a:pt x="366812" y="63500"/>
                  <a:pt x="381000" y="77688"/>
                  <a:pt x="381000" y="95250"/>
                </a:cubicBezTo>
                <a:cubicBezTo>
                  <a:pt x="381000" y="112812"/>
                  <a:pt x="366812" y="127000"/>
                  <a:pt x="349250" y="127000"/>
                </a:cubicBezTo>
                <a:lnTo>
                  <a:pt x="158750" y="127000"/>
                </a:lnTo>
                <a:cubicBezTo>
                  <a:pt x="141188" y="127000"/>
                  <a:pt x="127000" y="112812"/>
                  <a:pt x="127000" y="95250"/>
                </a:cubicBezTo>
                <a:close/>
                <a:moveTo>
                  <a:pt x="158750" y="174625"/>
                </a:moveTo>
                <a:lnTo>
                  <a:pt x="285750" y="174625"/>
                </a:lnTo>
                <a:cubicBezTo>
                  <a:pt x="303312" y="174625"/>
                  <a:pt x="317500" y="188813"/>
                  <a:pt x="317500" y="206375"/>
                </a:cubicBezTo>
                <a:cubicBezTo>
                  <a:pt x="317500" y="223937"/>
                  <a:pt x="303312" y="238125"/>
                  <a:pt x="285750" y="238125"/>
                </a:cubicBezTo>
                <a:lnTo>
                  <a:pt x="158750" y="238125"/>
                </a:lnTo>
                <a:cubicBezTo>
                  <a:pt x="141188" y="238125"/>
                  <a:pt x="127000" y="223937"/>
                  <a:pt x="127000" y="206375"/>
                </a:cubicBezTo>
                <a:cubicBezTo>
                  <a:pt x="127000" y="188813"/>
                  <a:pt x="141188" y="174625"/>
                  <a:pt x="158750" y="174625"/>
                </a:cubicBezTo>
                <a:close/>
                <a:moveTo>
                  <a:pt x="158750" y="285750"/>
                </a:moveTo>
                <a:lnTo>
                  <a:pt x="412750" y="285750"/>
                </a:lnTo>
                <a:cubicBezTo>
                  <a:pt x="430312" y="285750"/>
                  <a:pt x="444500" y="299938"/>
                  <a:pt x="444500" y="317500"/>
                </a:cubicBezTo>
                <a:cubicBezTo>
                  <a:pt x="444500" y="335062"/>
                  <a:pt x="430312" y="349250"/>
                  <a:pt x="412750" y="349250"/>
                </a:cubicBezTo>
                <a:lnTo>
                  <a:pt x="158750" y="349250"/>
                </a:lnTo>
                <a:cubicBezTo>
                  <a:pt x="141188" y="349250"/>
                  <a:pt x="127000" y="335062"/>
                  <a:pt x="127000" y="317500"/>
                </a:cubicBezTo>
                <a:cubicBezTo>
                  <a:pt x="127000" y="299938"/>
                  <a:pt x="141188" y="285750"/>
                  <a:pt x="158750" y="285750"/>
                </a:cubicBez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3619500"/>
            <a:ext cx="368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4127500"/>
            <a:ext cx="3683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 simple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Tests if gold prices follow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relationship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other assets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Fast and interpretable, but limited to straight-line patterns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69000" y="2286000"/>
            <a:ext cx="4445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9000" y="2540000"/>
            <a:ext cx="4445000" cy="762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1750" y="266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-31750"/>
                </a:moveTo>
                <a:cubicBezTo>
                  <a:pt x="229195" y="-31750"/>
                  <a:pt x="235843" y="-28674"/>
                  <a:pt x="240407" y="-23316"/>
                </a:cubicBezTo>
                <a:lnTo>
                  <a:pt x="375345" y="135434"/>
                </a:lnTo>
                <a:cubicBezTo>
                  <a:pt x="381397" y="142478"/>
                  <a:pt x="382687" y="152400"/>
                  <a:pt x="378817" y="160834"/>
                </a:cubicBezTo>
                <a:cubicBezTo>
                  <a:pt x="374948" y="169267"/>
                  <a:pt x="366514" y="174625"/>
                  <a:pt x="357188" y="174625"/>
                </a:cubicBezTo>
                <a:lnTo>
                  <a:pt x="332482" y="174625"/>
                </a:lnTo>
                <a:lnTo>
                  <a:pt x="407095" y="262434"/>
                </a:lnTo>
                <a:cubicBezTo>
                  <a:pt x="413147" y="269478"/>
                  <a:pt x="414437" y="279400"/>
                  <a:pt x="410567" y="287834"/>
                </a:cubicBezTo>
                <a:cubicBezTo>
                  <a:pt x="406698" y="296267"/>
                  <a:pt x="398264" y="301625"/>
                  <a:pt x="388938" y="301625"/>
                </a:cubicBezTo>
                <a:lnTo>
                  <a:pt x="350738" y="301625"/>
                </a:lnTo>
                <a:lnTo>
                  <a:pt x="438845" y="405309"/>
                </a:lnTo>
                <a:cubicBezTo>
                  <a:pt x="444897" y="412353"/>
                  <a:pt x="446187" y="422275"/>
                  <a:pt x="442317" y="430709"/>
                </a:cubicBezTo>
                <a:cubicBezTo>
                  <a:pt x="438448" y="439142"/>
                  <a:pt x="430014" y="444500"/>
                  <a:pt x="420688" y="444500"/>
                </a:cubicBezTo>
                <a:lnTo>
                  <a:pt x="254000" y="444500"/>
                </a:lnTo>
                <a:lnTo>
                  <a:pt x="254000" y="508000"/>
                </a:lnTo>
                <a:cubicBezTo>
                  <a:pt x="254000" y="525562"/>
                  <a:pt x="239812" y="539750"/>
                  <a:pt x="222250" y="539750"/>
                </a:cubicBezTo>
                <a:cubicBezTo>
                  <a:pt x="204688" y="539750"/>
                  <a:pt x="190500" y="525562"/>
                  <a:pt x="190500" y="508000"/>
                </a:cubicBezTo>
                <a:lnTo>
                  <a:pt x="190500" y="444500"/>
                </a:lnTo>
                <a:lnTo>
                  <a:pt x="23812" y="444500"/>
                </a:lnTo>
                <a:cubicBezTo>
                  <a:pt x="14486" y="444500"/>
                  <a:pt x="6052" y="439142"/>
                  <a:pt x="2183" y="430709"/>
                </a:cubicBezTo>
                <a:cubicBezTo>
                  <a:pt x="-1687" y="422275"/>
                  <a:pt x="-397" y="412353"/>
                  <a:pt x="5655" y="405309"/>
                </a:cubicBezTo>
                <a:lnTo>
                  <a:pt x="93762" y="301625"/>
                </a:lnTo>
                <a:lnTo>
                  <a:pt x="55563" y="301625"/>
                </a:lnTo>
                <a:cubicBezTo>
                  <a:pt x="46236" y="301625"/>
                  <a:pt x="37802" y="296267"/>
                  <a:pt x="33933" y="287834"/>
                </a:cubicBezTo>
                <a:cubicBezTo>
                  <a:pt x="30063" y="279400"/>
                  <a:pt x="31353" y="269478"/>
                  <a:pt x="37405" y="262434"/>
                </a:cubicBezTo>
                <a:lnTo>
                  <a:pt x="112018" y="174625"/>
                </a:lnTo>
                <a:lnTo>
                  <a:pt x="87313" y="174625"/>
                </a:lnTo>
                <a:cubicBezTo>
                  <a:pt x="77986" y="174625"/>
                  <a:pt x="69552" y="169267"/>
                  <a:pt x="65683" y="160834"/>
                </a:cubicBezTo>
                <a:cubicBezTo>
                  <a:pt x="61813" y="152400"/>
                  <a:pt x="63103" y="142478"/>
                  <a:pt x="69155" y="135434"/>
                </a:cubicBezTo>
                <a:lnTo>
                  <a:pt x="204093" y="-23316"/>
                </a:lnTo>
                <a:cubicBezTo>
                  <a:pt x="208657" y="-28674"/>
                  <a:pt x="215305" y="-31750"/>
                  <a:pt x="222250" y="-31750"/>
                </a:cubicBezTo>
                <a:close/>
              </a:path>
            </a:pathLst>
          </a:custGeom>
          <a:solidFill>
            <a:srgbClr val="6B8E7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000" y="3619500"/>
            <a:ext cx="368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0" y="4127500"/>
            <a:ext cx="3683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100 decision trees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Captures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patterns and feature interactions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Robust to outliers and overfitting through bagging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2286000"/>
            <a:ext cx="4445000" cy="482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8000" y="2286000"/>
            <a:ext cx="4445000" cy="762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80750" y="266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36153" y="-9823"/>
                </a:moveTo>
                <a:cubicBezTo>
                  <a:pt x="347960" y="-1290"/>
                  <a:pt x="352326" y="14188"/>
                  <a:pt x="346968" y="27682"/>
                </a:cubicBezTo>
                <a:lnTo>
                  <a:pt x="269180" y="222250"/>
                </a:lnTo>
                <a:lnTo>
                  <a:pt x="412750" y="222250"/>
                </a:lnTo>
                <a:cubicBezTo>
                  <a:pt x="426145" y="222250"/>
                  <a:pt x="438051" y="230584"/>
                  <a:pt x="442615" y="243185"/>
                </a:cubicBezTo>
                <a:cubicBezTo>
                  <a:pt x="447179" y="255786"/>
                  <a:pt x="443309" y="269875"/>
                  <a:pt x="433090" y="278408"/>
                </a:cubicBezTo>
                <a:lnTo>
                  <a:pt x="147340" y="516533"/>
                </a:lnTo>
                <a:cubicBezTo>
                  <a:pt x="136128" y="525859"/>
                  <a:pt x="120154" y="526355"/>
                  <a:pt x="108347" y="517823"/>
                </a:cubicBezTo>
                <a:cubicBezTo>
                  <a:pt x="96540" y="509290"/>
                  <a:pt x="92174" y="493812"/>
                  <a:pt x="97532" y="480318"/>
                </a:cubicBezTo>
                <a:lnTo>
                  <a:pt x="175320" y="285750"/>
                </a:lnTo>
                <a:lnTo>
                  <a:pt x="31750" y="285750"/>
                </a:lnTo>
                <a:cubicBezTo>
                  <a:pt x="18355" y="285750"/>
                  <a:pt x="6449" y="277416"/>
                  <a:pt x="1885" y="264815"/>
                </a:cubicBezTo>
                <a:cubicBezTo>
                  <a:pt x="-2679" y="252214"/>
                  <a:pt x="1191" y="238125"/>
                  <a:pt x="11410" y="229592"/>
                </a:cubicBezTo>
                <a:lnTo>
                  <a:pt x="297160" y="-8533"/>
                </a:lnTo>
                <a:cubicBezTo>
                  <a:pt x="308372" y="-17859"/>
                  <a:pt x="324346" y="-18355"/>
                  <a:pt x="336153" y="-9823"/>
                </a:cubicBezTo>
                <a:close/>
              </a:path>
            </a:pathLst>
          </a:custGeom>
          <a:solidFill>
            <a:srgbClr val="6B8E7D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3365500"/>
            <a:ext cx="368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4000500"/>
            <a:ext cx="3683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Sequential trees that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from errors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Corrects mistakes of previous trees iteratively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Often powerful, but sensitive to hyperparameters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382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8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0000" y="660400"/>
            <a:ext cx="2476500" cy="508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27000"/>
            <a:ext cx="241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1270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8C8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1270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1143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Results — Random Forest Crushes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1968500"/>
            <a:ext cx="13716000" cy="12700"/>
          </a:xfrm>
          <a:prstGeom prst="rect">
            <a:avLst/>
          </a:prstGeom>
          <a:solidFill>
            <a:srgbClr val="EAE8E3"/>
          </a:solidFill>
          <a:ln/>
        </p:spPr>
      </p:sp>
      <p:graphicFrame>
        <p:nvGraphicFramePr>
          <p:cNvPr id="9" name="Chart 0" descr=""/>
          <p:cNvGraphicFramePr/>
          <p:nvPr/>
        </p:nvGraphicFramePr>
        <p:xfrm>
          <a:off x="1270000" y="2413000"/>
          <a:ext cx="13716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1270000" y="6858000"/>
            <a:ext cx="13716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651000" y="6858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achieved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0.988 R²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only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2.51 RMSE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nearly 99% accuracy. Linear Regression struggled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7.58 RMSE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proving that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 models are essential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financial data.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86000" y="8382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25400"/>
          </a:xfrm>
          <a:prstGeom prst="rect">
            <a:avLst/>
          </a:prstGeom>
          <a:solidFill>
            <a:srgbClr val="6B8E7D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3048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0" y="4064000"/>
            <a:ext cx="1117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Non-linear models are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financial data — linear assumptions fail in volatile markets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0" y="4826000"/>
            <a:ext cx="1117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Silver (SLV) emerged as the single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powerful predictor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gold prices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40000" y="5588000"/>
            <a:ext cx="1117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B8E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 built a highly accurate predictive pipeline achieving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98.8% accuracy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6477000"/>
            <a:ext cx="2540000" cy="12700"/>
          </a:xfrm>
          <a:prstGeom prst="rect">
            <a:avLst/>
          </a:prstGeom>
          <a:solidFill>
            <a:srgbClr val="EAE8E3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6731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Watching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0" y="7493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Welcome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Price of Gold: A Machine Learning Approach</dc:title>
  <dc:subject>Predicting the Price of Gold: A Machine Learning Approach</dc:subject>
  <dc:creator>Kimi</dc:creator>
  <cp:lastModifiedBy>Kimi</cp:lastModifiedBy>
  <cp:revision>1</cp:revision>
  <dcterms:created xsi:type="dcterms:W3CDTF">2026-05-03T14:44:00Z</dcterms:created>
  <dcterms:modified xsi:type="dcterms:W3CDTF">2026-05-03T14:44:00Z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{"Label":"Predicting the Price of Gold: A Machine Learning Approach","ContentProducer":"001191110108MACG2KBH8F10000","ProduceID":"19dee3cb-86c2-89e4-8000-000065623017","ReservedCode1":"","ContentPropagator":"001191110108MACG2KBH8F20000","PropagateID":"19dee3cb-86c2-89e4-8000-000065623017","ReservedCode2":""}</vt:lpwstr>
  </property>
</Properties>
</file>